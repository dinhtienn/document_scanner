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347" r:id="rId5"/>
    <p:sldId id="348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0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FF"/>
    <a:srgbClr val="FFE57E"/>
    <a:srgbClr val="EFC23F"/>
    <a:srgbClr val="008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9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7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7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4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8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3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4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6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4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6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2FE90-E6E6-42A4-B172-A910FE88B76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656A-04E1-47D8-8ECD-0711374D2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7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55579" y="3105772"/>
            <a:ext cx="56108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Computer vision</a:t>
            </a:r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7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201728" y="2424023"/>
            <a:ext cx="31534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Machine </a:t>
            </a:r>
          </a:p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Learning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4308" y="3046313"/>
            <a:ext cx="7257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Automatic Document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1851" y="4130810"/>
            <a:ext cx="44426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Đinh Quang Tiến - 23001943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Nguyễn Đức Quang - 23001918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Hà Minh Quang - 23001916</a:t>
            </a:r>
          </a:p>
        </p:txBody>
      </p:sp>
    </p:spTree>
    <p:extLst>
      <p:ext uri="{BB962C8B-B14F-4D97-AF65-F5344CB8AC3E}">
        <p14:creationId xmlns:p14="http://schemas.microsoft.com/office/powerpoint/2010/main" val="299766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Giới thiệu bài toán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038" y="0"/>
            <a:ext cx="805962" cy="79157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5441" y="948907"/>
            <a:ext cx="115766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000" dirty="0"/>
              <a:t>Trong thời đại số hóa, nhu cầu chụp và chuyển đổi tài liệu giấy thành ảnh rõ ràng, dễ đọc ngày càng phổ </a:t>
            </a:r>
            <a:r>
              <a:rPr lang="vi-VN" sz="2000" dirty="0" smtClean="0"/>
              <a:t>biến.</a:t>
            </a:r>
            <a:r>
              <a:rPr lang="en-US" sz="2000" dirty="0" smtClean="0"/>
              <a:t> </a:t>
            </a:r>
            <a:r>
              <a:rPr lang="vi-VN" sz="2000" dirty="0" smtClean="0"/>
              <a:t>Đề </a:t>
            </a:r>
            <a:r>
              <a:rPr lang="vi-VN" sz="2000" dirty="0"/>
              <a:t>tài hướng đến xây dựng một hệ thống </a:t>
            </a:r>
            <a:r>
              <a:rPr lang="vi-VN" sz="2000" b="1" dirty="0"/>
              <a:t>scanner tài liệu</a:t>
            </a:r>
            <a:r>
              <a:rPr lang="vi-VN" sz="2000" dirty="0"/>
              <a:t> dựa trên các kỹ thuật xử lý ảnh số cổ điển, giúp phát hiện vùng tài liệu, hiệu chỉnh phối cảnh và tạo ảnh đầu ra dễ đọc hơn.</a:t>
            </a:r>
          </a:p>
          <a:p>
            <a:pPr algn="just">
              <a:lnSpc>
                <a:spcPct val="150000"/>
              </a:lnSpc>
            </a:pPr>
            <a:r>
              <a:rPr lang="vi-VN" sz="2000" b="1" dirty="0"/>
              <a:t>Mục </a:t>
            </a:r>
            <a:r>
              <a:rPr lang="vi-VN" sz="2000" b="1" dirty="0" smtClean="0"/>
              <a:t>tiêu</a:t>
            </a:r>
            <a:r>
              <a:rPr lang="en-US" sz="2000" b="1" dirty="0" smtClean="0"/>
              <a:t>:</a:t>
            </a:r>
            <a:endParaRPr lang="vi-VN" sz="20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Xử lý ảnh tài liệu chụp từ điện thoại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Phát hiện vùng tài liệu trong ảnh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Ước lượng bốn góc và hiệu chỉnh phối cảnh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/>
              <a:t>Tạo ảnh đầu ra phục vụ đọc và lưu trữ </a:t>
            </a:r>
          </a:p>
          <a:p>
            <a:pPr algn="just">
              <a:lnSpc>
                <a:spcPct val="150000"/>
              </a:lnSpc>
            </a:pPr>
            <a:r>
              <a:rPr lang="vi-VN" sz="2000" b="1" dirty="0"/>
              <a:t>Phạm </a:t>
            </a:r>
            <a:r>
              <a:rPr lang="vi-VN" sz="2000" b="1" dirty="0" smtClean="0"/>
              <a:t>vi</a:t>
            </a:r>
            <a:r>
              <a:rPr lang="en-US" sz="2000" b="1" dirty="0" smtClean="0"/>
              <a:t>:</a:t>
            </a:r>
            <a:endParaRPr lang="vi-VN" sz="2000" b="1" dirty="0"/>
          </a:p>
          <a:p>
            <a:pPr algn="just">
              <a:lnSpc>
                <a:spcPct val="150000"/>
              </a:lnSpc>
            </a:pPr>
            <a:r>
              <a:rPr lang="vi-VN" sz="2000" dirty="0"/>
              <a:t>Sử dụng các kỹ thuật xử lý ảnh cổ điển như: chuyển đổi hệ màu, histogram, lọc </a:t>
            </a:r>
            <a:r>
              <a:rPr lang="en-US" sz="2000" dirty="0" smtClean="0"/>
              <a:t>nhiễu</a:t>
            </a:r>
            <a:r>
              <a:rPr lang="vi-VN" sz="2000" dirty="0" smtClean="0"/>
              <a:t>, </a:t>
            </a:r>
            <a:r>
              <a:rPr lang="vi-VN" sz="2000" dirty="0"/>
              <a:t>phát hiện biên, phân ngưỡng, hình thái học, contour và biến đổi phối cảnh.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5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7753" y="3959786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7" name="AutoShape 4" descr="Futuristic AI eye with glowing HU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753" y="4071930"/>
            <a:ext cx="55467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Dữ liệu </a:t>
            </a:r>
          </a:p>
          <a:p>
            <a:r>
              <a:rPr lang="en-US" sz="4800" b="1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và phương pháp</a:t>
            </a:r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6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753" y="4071930"/>
            <a:ext cx="38763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Tổng quan </a:t>
            </a:r>
          </a:p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về dữ liệu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0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Tổng quan về dữ liệu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143" y="1023172"/>
            <a:ext cx="752223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Khoảng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200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ảnh tài liệu chụp bằng điện thoại, không scan, chỉnh sửa, crop,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filter.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Gồm A4, vở, sách trong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Định dạng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JPG/HEIC.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Đa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dạng về góc chụp, nền, ánh sáng, khoảng cách, tình trạng tài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liệu.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cs typeface="Arial" panose="020B0604020202020204" pitchFamily="34" charset="0"/>
              </a:rPr>
              <a:t>Tập train dùng để khảo sát đặc trưng ảnh, thử nghiệm </a:t>
            </a:r>
            <a:r>
              <a:rPr lang="vi-VN" sz="2000" dirty="0" smtClean="0">
                <a:cs typeface="Arial" panose="020B0604020202020204" pitchFamily="34" charset="0"/>
              </a:rPr>
              <a:t>và </a:t>
            </a:r>
            <a:r>
              <a:rPr lang="vi-VN" sz="2000" dirty="0">
                <a:cs typeface="Arial" panose="020B0604020202020204" pitchFamily="34" charset="0"/>
              </a:rPr>
              <a:t>tinh chỉnh các tham số.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cs typeface="Arial" panose="020B0604020202020204" pitchFamily="34" charset="0"/>
              </a:rPr>
              <a:t>Tập val dùng để kiểm tra khả năng khái quát của pipeline trên các ảnh chưa được chỉnh tham số thủ công.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cs typeface="Arial" panose="020B0604020202020204" pitchFamily="34" charset="0"/>
              </a:rPr>
              <a:t>Tập test được gán nhãn 4 góc tài liệu để đánh giá định lượng kết quả phát hiện vùng tài liệu và hiệu chỉnh phối cảnh.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969" y="1023172"/>
            <a:ext cx="1841741" cy="24480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03" y="1018642"/>
            <a:ext cx="1845150" cy="24525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968" y="3862889"/>
            <a:ext cx="1841741" cy="2455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649" y="3853657"/>
            <a:ext cx="1854441" cy="24648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8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753" y="4071930"/>
            <a:ext cx="46249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Phương pháp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9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Pipeline tổng thể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7419" y="3909613"/>
            <a:ext cx="1192458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Input: Nhận ảnh tài liệu chụp bằng điện thoại trong điều kiện thực tế.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Document Detection: Phát hiện vùng tài liệu bằng biên Canny, contour và Hough Transform.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Perspective &amp; Binarization: Hiệu chỉnh phối cảnh, sau đó nhị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phân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hóa bằng Otsu, Adaptive hoặc CLAHE + Otsu.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 Chọn kết quả tốt nhất và xuất ảnh scan cuối cùng rõ, sạch, dễ đọc.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3" y="1231528"/>
            <a:ext cx="11979480" cy="241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6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Các phương pháp so sánh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24113" y="820461"/>
            <a:ext cx="60643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Sử dụng 2 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pipeline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scanner tài liệu với hai nhánh phát hiện chính: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Edge-based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dùng Gaussian Blur,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Canny, morphology và contour để xấp xỉ vùng tài liệu.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Line-based: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vi-VN" sz="2000" dirty="0">
                <a:cs typeface="Arial" panose="020B0604020202020204" pitchFamily="34" charset="0"/>
              </a:rPr>
              <a:t> Gaussian </a:t>
            </a:r>
            <a:r>
              <a:rPr lang="vi-VN" sz="2000" dirty="0" smtClean="0">
                <a:cs typeface="Arial" panose="020B0604020202020204" pitchFamily="34" charset="0"/>
              </a:rPr>
              <a:t>Blur</a:t>
            </a:r>
            <a:r>
              <a:rPr lang="en-US" sz="2000" dirty="0" smtClean="0">
                <a:cs typeface="Arial" panose="020B0604020202020204" pitchFamily="34" charset="0"/>
              </a:rPr>
              <a:t>,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Canny và Hough Transform để phát hiện đường thẳng, suy ra 4 góc.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Hai nhánh tạo ra các tứ giác ứng viên và chọn </a:t>
            </a:r>
            <a:r>
              <a:rPr lang="vi-VN" sz="2000" b="1" dirty="0">
                <a:latin typeface="Arial" panose="020B0604020202020204" pitchFamily="34" charset="0"/>
                <a:cs typeface="Arial" panose="020B0604020202020204" pitchFamily="34" charset="0"/>
              </a:rPr>
              <a:t>tứ giác tốt nhất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Sau đó hệ thống hiệu chỉnh phối cảnh và so sánh các phương pháp nhị phân hóa để tạo ảnh đầu ra.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18" y="827449"/>
            <a:ext cx="5226351" cy="558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0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7753" y="3959786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7" name="AutoShape 4" descr="Futuristic AI eye with glowing HU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753" y="4071930"/>
            <a:ext cx="46923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Thực nghiệm</a:t>
            </a:r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 </a:t>
            </a:r>
            <a:endParaRPr lang="en-US" sz="4800" b="1" dirty="0" smtClean="0">
              <a:solidFill>
                <a:schemeClr val="bg1"/>
              </a:solidFill>
              <a:latin typeface="Montserrat ExtraBold" panose="00000900000000000000" pitchFamily="2" charset="0"/>
            </a:endParaRPr>
          </a:p>
          <a:p>
            <a:r>
              <a:rPr lang="en-US" sz="4800" b="1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295125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753" y="4071930"/>
            <a:ext cx="35221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Tiền xử lý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</a:t>
            </a:r>
            <a:endParaRPr lang="en-US" sz="4800" b="1" dirty="0" smtClean="0">
              <a:solidFill>
                <a:srgbClr val="0092FF"/>
              </a:solidFill>
              <a:latin typeface="Montserrat ExtraBold" panose="00000900000000000000" pitchFamily="2" charset="0"/>
            </a:endParaRPr>
          </a:p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dữ liệu</a:t>
            </a:r>
          </a:p>
        </p:txBody>
      </p:sp>
    </p:spTree>
    <p:extLst>
      <p:ext uri="{BB962C8B-B14F-4D97-AF65-F5344CB8AC3E}">
        <p14:creationId xmlns:p14="http://schemas.microsoft.com/office/powerpoint/2010/main" val="382024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Tiền xử lý dữ liệu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3079" y="1369894"/>
            <a:ext cx="11708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dirty="0"/>
              <a:t>Quy trình làm sạch và tiền xử lý dữ liệu như sau: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 smtClean="0"/>
              <a:t>Đọc </a:t>
            </a:r>
            <a:r>
              <a:rPr lang="vi-VN" sz="2000" dirty="0"/>
              <a:t>ảnh và hỗ trợ các định dạng khác nhau (.jpg, .png, .HEIC, ..).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 smtClean="0"/>
              <a:t>Resize </a:t>
            </a:r>
            <a:r>
              <a:rPr lang="vi-VN" sz="2000" dirty="0"/>
              <a:t>kích thước ảnh về một chiều dài tiêu chuẩn để giới hạn tài nguyên tính toán.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 smtClean="0"/>
              <a:t>Áp </a:t>
            </a:r>
            <a:r>
              <a:rPr lang="vi-VN" sz="2000" dirty="0"/>
              <a:t>dụng bộ lọc (Gaussian Blur/Median Blur) để khử nhiễu.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 smtClean="0"/>
              <a:t>Chuyển </a:t>
            </a:r>
            <a:r>
              <a:rPr lang="vi-VN" sz="2000" dirty="0"/>
              <a:t>đổi không gian màu (Grayscale/HSV/Lab) để thuận tiện cho việc trích xuất </a:t>
            </a:r>
            <a:r>
              <a:rPr lang="vi-VN" sz="2000" dirty="0" smtClean="0"/>
              <a:t>biên </a:t>
            </a:r>
            <a:r>
              <a:rPr lang="vi-VN" sz="2000" dirty="0"/>
              <a:t>hoặc vùng tài liệu ở bước tiếp theo.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Kết quả thực nghiệm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503" y="1237397"/>
            <a:ext cx="6084497" cy="48593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" y="1178811"/>
            <a:ext cx="6098872" cy="485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Montserrat ExtraBold" panose="00000900000000000000" pitchFamily="2" charset="0"/>
              </a:rPr>
              <a:t>Kết quả thực nghiệm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51" y="826775"/>
            <a:ext cx="9240932" cy="55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7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7753" y="3959786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7" name="AutoShape 4" descr="Futuristic AI eye with glowing HU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753" y="4071930"/>
            <a:ext cx="67858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Bài toán</a:t>
            </a:r>
          </a:p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Boundary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Detection</a:t>
            </a:r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99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753" y="4071930"/>
            <a:ext cx="108205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Pipeline 1</a:t>
            </a:r>
            <a:b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</a:br>
            <a:r>
              <a:rPr lang="en-US" sz="4800" b="1" dirty="0" err="1">
                <a:solidFill>
                  <a:srgbClr val="0092FF"/>
                </a:solidFill>
                <a:latin typeface="Montserrat ExtraBold" panose="00000900000000000000" pitchFamily="2" charset="0"/>
              </a:rPr>
              <a:t>sử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</a:t>
            </a:r>
            <a:r>
              <a:rPr lang="en-US" sz="4800" b="1" dirty="0" err="1">
                <a:solidFill>
                  <a:srgbClr val="0092FF"/>
                </a:solidFill>
                <a:latin typeface="Montserrat ExtraBold" panose="00000900000000000000" pitchFamily="2" charset="0"/>
              </a:rPr>
              <a:t>dụng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</a:t>
            </a:r>
            <a:r>
              <a:rPr lang="en-US" sz="4800" b="1" dirty="0" err="1">
                <a:solidFill>
                  <a:srgbClr val="0092FF"/>
                </a:solidFill>
                <a:latin typeface="Montserrat ExtraBold" panose="00000900000000000000" pitchFamily="2" charset="0"/>
              </a:rPr>
              <a:t>Canny+Largest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Contour</a:t>
            </a:r>
          </a:p>
        </p:txBody>
      </p:sp>
    </p:spTree>
    <p:extLst>
      <p:ext uri="{BB962C8B-B14F-4D97-AF65-F5344CB8AC3E}">
        <p14:creationId xmlns:p14="http://schemas.microsoft.com/office/powerpoint/2010/main" val="2321209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9CB3-66D6-BBB2-A67F-F9838D5C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16CB2C-18EF-309B-66F8-9AC786151879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Pipeline 1 – Edge-based Detection (Canny + Largest Contour)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B99B72-49F8-A45C-1FB2-D0F8686C546F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AE16B44E-E618-287D-19E0-860F3DFA9D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C4D182-48D9-A436-6ABC-1AC48B8CF9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26766A-7249-62BD-B36E-01A0314C5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9F76B-9E4F-D917-2059-B1A960FF0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166" y="1008404"/>
            <a:ext cx="8007409" cy="523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7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63C0-E10C-1914-0A88-D3518B58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>
            <a:extLst>
              <a:ext uri="{FF2B5EF4-FFF2-40B4-BE49-F238E27FC236}">
                <a16:creationId xmlns:a16="http://schemas.microsoft.com/office/drawing/2014/main" id="{51D56A95-27E6-664E-55DA-335E25796D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9177E-07F1-C9AE-D8DC-D75ACC62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45F86-7DAD-D900-5A3E-FFE0D7613A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7A530E-EB64-CBE5-E16D-0FAF2984A05B}"/>
              </a:ext>
            </a:extLst>
          </p:cNvPr>
          <p:cNvSpPr txBox="1"/>
          <p:nvPr/>
        </p:nvSpPr>
        <p:spPr>
          <a:xfrm>
            <a:off x="717753" y="4071930"/>
            <a:ext cx="90172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Pipeline 2</a:t>
            </a:r>
            <a:b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</a:br>
            <a:r>
              <a:rPr lang="en-US" sz="4800" b="1" dirty="0" err="1">
                <a:solidFill>
                  <a:srgbClr val="0092FF"/>
                </a:solidFill>
                <a:latin typeface="Montserrat ExtraBold" panose="00000900000000000000" pitchFamily="2" charset="0"/>
              </a:rPr>
              <a:t>sử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</a:t>
            </a:r>
            <a:r>
              <a:rPr lang="en-US" sz="4800" b="1" dirty="0" err="1">
                <a:solidFill>
                  <a:srgbClr val="0092FF"/>
                </a:solidFill>
                <a:latin typeface="Montserrat ExtraBold" panose="00000900000000000000" pitchFamily="2" charset="0"/>
              </a:rPr>
              <a:t>dụng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 Hough Line-based</a:t>
            </a:r>
          </a:p>
        </p:txBody>
      </p:sp>
    </p:spTree>
    <p:extLst>
      <p:ext uri="{BB962C8B-B14F-4D97-AF65-F5344CB8AC3E}">
        <p14:creationId xmlns:p14="http://schemas.microsoft.com/office/powerpoint/2010/main" val="1124653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B8A7-B844-9546-9947-84B15CFF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E6243-7440-3368-D5F5-FDD43D447BD3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Pipeline 2 – Hough Line-based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560FAC-EABF-D20A-298A-5A01A745A245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A4A548E-AE30-EEB7-DC4F-8FDE7C8106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198079-0AC0-F54C-E3F8-AC48607675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CAC3F1-5607-1E84-6505-935118B6A0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003273-817E-3FF6-75C2-B4533B7E0E03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BA96DF-4D08-438D-6202-FD284292B678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AE3751-6891-A504-0F1D-6974D1997D33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1F950A-1BDA-758A-949A-D3BCEB6BC183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D8FEA-F907-A34E-2095-C255797A1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BC9874-B62B-B27F-34EE-BBFB18F28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90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FEE3-2F58-E02D-C9FA-BAF07537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chatgpt.com/backend-api/estuary/content?id=file_000000003c587206ab69ffb296c46426&amp;ts=489665&amp;p=fs&amp;cid=1&amp;sig=0d1c1e8cfbb34d87163f8df66aed23a842d0c256c031d56c2adc4c3148b61488&amp;v=0">
            <a:extLst>
              <a:ext uri="{FF2B5EF4-FFF2-40B4-BE49-F238E27FC236}">
                <a16:creationId xmlns:a16="http://schemas.microsoft.com/office/drawing/2014/main" id="{15D1E376-6DE9-E0F1-1D48-4BE742C816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DC7AE-992C-D1F8-4902-332750AE9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21C5DA-F818-209D-0412-F39FDA174E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646444-2131-973C-965F-23A553343C2D}"/>
              </a:ext>
            </a:extLst>
          </p:cNvPr>
          <p:cNvSpPr txBox="1"/>
          <p:nvPr/>
        </p:nvSpPr>
        <p:spPr>
          <a:xfrm>
            <a:off x="717753" y="4071930"/>
            <a:ext cx="62504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Phân tích </a:t>
            </a:r>
            <a:endParaRPr lang="en-US" sz="4800" b="1" dirty="0" smtClean="0">
              <a:solidFill>
                <a:srgbClr val="0092FF"/>
              </a:solidFill>
              <a:latin typeface="Montserrat ExtraBold" panose="00000900000000000000" pitchFamily="2" charset="0"/>
            </a:endParaRPr>
          </a:p>
          <a:p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so 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sánh </a:t>
            </a:r>
            <a:r>
              <a:rPr lang="en-US" sz="4800" b="1" dirty="0" smtClean="0">
                <a:solidFill>
                  <a:srgbClr val="0092FF"/>
                </a:solidFill>
                <a:latin typeface="Montserrat ExtraBold" panose="00000900000000000000" pitchFamily="2" charset="0"/>
              </a:rPr>
              <a:t>2 </a:t>
            </a:r>
            <a:r>
              <a:rPr lang="en-US" sz="4800" b="1" dirty="0">
                <a:solidFill>
                  <a:srgbClr val="0092FF"/>
                </a:solidFill>
                <a:latin typeface="Montserrat ExtraBold" panose="00000900000000000000" pitchFamily="2" charset="0"/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3519531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DDEE-A0D4-7196-50BB-3925800F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5B11E8-EF2F-A917-5E76-31D702C7D168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Phân </a:t>
            </a:r>
            <a:r>
              <a:rPr lang="en-US" sz="2800" dirty="0" err="1">
                <a:latin typeface="Montserrat ExtraBold" panose="00000900000000000000" pitchFamily="2" charset="0"/>
              </a:rPr>
              <a:t>tích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và</a:t>
            </a:r>
            <a:r>
              <a:rPr lang="en-US" sz="2800" dirty="0">
                <a:latin typeface="Montserrat ExtraBold" panose="00000900000000000000" pitchFamily="2" charset="0"/>
              </a:rPr>
              <a:t> so </a:t>
            </a:r>
            <a:r>
              <a:rPr lang="en-US" sz="2800" dirty="0" err="1">
                <a:latin typeface="Montserrat ExtraBold" panose="00000900000000000000" pitchFamily="2" charset="0"/>
              </a:rPr>
              <a:t>sánh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BF02B5-38B0-9BE0-6541-1CDE5B50FEAF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9FDE3C3-626F-5495-6422-C807FBFAB1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D5FA4-1F87-3C92-AC7D-B60807E30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74C6F6-61AF-9CD1-6483-F46FF9B67F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200E17E-6ADC-47BD-9E2D-5EAA97773F10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D02AAA-7B01-B40D-6B87-F15A2C2D4A17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6E1124-98A5-56C5-6823-57D03B31C033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CACD81-E3FE-7597-30EB-22755E7A7CCE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628A7-3C7F-5A4C-F0B1-DA41CFF8E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D866B2-81ED-22A9-6814-7F7C8B722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44A3D-F840-4B79-6846-BF39D1A1F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877" y="1015308"/>
            <a:ext cx="8517308" cy="535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65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D60E-A83C-74EC-A9C8-3704F7D6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706AAD-8150-1E8F-7CC6-29481E77396A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Phân </a:t>
            </a:r>
            <a:r>
              <a:rPr lang="en-US" sz="2800" dirty="0" err="1">
                <a:latin typeface="Montserrat ExtraBold" panose="00000900000000000000" pitchFamily="2" charset="0"/>
              </a:rPr>
              <a:t>tích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và</a:t>
            </a:r>
            <a:r>
              <a:rPr lang="en-US" sz="2800" dirty="0">
                <a:latin typeface="Montserrat ExtraBold" panose="00000900000000000000" pitchFamily="2" charset="0"/>
              </a:rPr>
              <a:t> so </a:t>
            </a:r>
            <a:r>
              <a:rPr lang="en-US" sz="2800" dirty="0" err="1">
                <a:latin typeface="Montserrat ExtraBold" panose="00000900000000000000" pitchFamily="2" charset="0"/>
              </a:rPr>
              <a:t>sánh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748A9A-850A-D0BC-EB01-78CD618DA7A4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C18D836-9BB1-A181-82CC-D330F2C56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B15414-9C93-F59E-2B48-3B2BFE9086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069943-BC92-91B1-92EA-2824F6BB8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6DD9D0-E583-F9FA-99F5-B2815AC55D44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930E66-4B5A-4B9F-2450-0A01F9F67FAF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A135D-E749-75F6-C664-C48D46B480A5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ACC11-EFF2-28C7-152A-DC99B021C9D4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745E6-4269-EC98-14B8-6A93AEB60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B3CFC-572C-6F19-DFFF-3F495B78C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C3DD38-0687-6F5C-379B-FD49458CF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877" y="1015308"/>
            <a:ext cx="8517308" cy="5358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0EE17-C6D6-AC1F-370E-032B50F63B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8979" y="1076771"/>
            <a:ext cx="7973227" cy="50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69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35A8-8BC6-65E6-87BE-AE0B74AA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73FCC7-979E-A054-055B-BBDBC2710FB0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Montserrat ExtraBold" panose="00000900000000000000" pitchFamily="2" charset="0"/>
              </a:rPr>
              <a:t>Phân </a:t>
            </a:r>
            <a:r>
              <a:rPr lang="en-US" sz="2800" dirty="0" err="1">
                <a:latin typeface="Montserrat ExtraBold" panose="00000900000000000000" pitchFamily="2" charset="0"/>
              </a:rPr>
              <a:t>tích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và</a:t>
            </a:r>
            <a:r>
              <a:rPr lang="en-US" sz="2800" dirty="0">
                <a:latin typeface="Montserrat ExtraBold" panose="00000900000000000000" pitchFamily="2" charset="0"/>
              </a:rPr>
              <a:t> so </a:t>
            </a:r>
            <a:r>
              <a:rPr lang="en-US" sz="2800" dirty="0" err="1">
                <a:latin typeface="Montserrat ExtraBold" panose="00000900000000000000" pitchFamily="2" charset="0"/>
              </a:rPr>
              <a:t>sánh</a:t>
            </a:r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9FA01A-86D2-8D64-C800-C064C31867AE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0733365-46CB-53A0-8C24-E49152FEE8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F5C63B-22B6-8434-A946-F7B8F1F17A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67A1EB-3DAB-0741-36CB-DB9AEF5B39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2DB13E3-0BD0-ABBD-19DE-BC8768F2863B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FE8CC6-649C-0A53-2C71-8050383C3273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26E6AC-5F2A-4C95-D0D1-07B770C7F5A6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3292B4-BECB-4CE1-EE47-4754B3A1226F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79FFF4-1AF5-AD1F-EB12-ABB11B39E592}"/>
              </a:ext>
            </a:extLst>
          </p:cNvPr>
          <p:cNvSpPr/>
          <p:nvPr/>
        </p:nvSpPr>
        <p:spPr>
          <a:xfrm>
            <a:off x="1607689" y="1599297"/>
            <a:ext cx="8682527" cy="43754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n-US" dirty="0"/>
              <a:t>Edge-based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,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contour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khép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tốt</a:t>
            </a:r>
            <a:endParaRPr lang="en-US" dirty="0"/>
          </a:p>
          <a:p>
            <a:pPr marL="285750" indent="-285750" algn="ctr">
              <a:buFontTx/>
              <a:buChar char="-"/>
            </a:pPr>
            <a:r>
              <a:rPr lang="en-US" dirty="0"/>
              <a:t>Hough Line – based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đứt</a:t>
            </a:r>
            <a:r>
              <a:rPr lang="en-US" dirty="0"/>
              <a:t> </a:t>
            </a:r>
            <a:r>
              <a:rPr lang="en-US" dirty="0" err="1"/>
              <a:t>gãy</a:t>
            </a:r>
            <a:r>
              <a:rPr lang="en-US" dirty="0"/>
              <a:t> , </a:t>
            </a:r>
            <a:r>
              <a:rPr lang="en-US" dirty="0" err="1"/>
              <a:t>mờ</a:t>
            </a:r>
            <a:r>
              <a:rPr lang="en-US" dirty="0"/>
              <a:t> 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tứ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29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7753" y="3959786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7" name="AutoShape 4" descr="Futuristic AI eye with glowing HU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753" y="4071930"/>
            <a:ext cx="77636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Bài toán </a:t>
            </a:r>
          </a:p>
          <a:p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Document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Binarization</a:t>
            </a:r>
            <a:endParaRPr lang="en-US" sz="4800" b="1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484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8EE2-CDD7-C474-15DA-B9902986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5A91AF-3AD4-F07E-C494-C4C8297F8FBC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latin typeface="Montserrat ExtraBold" panose="00000900000000000000" pitchFamily="2" charset="0"/>
              </a:rPr>
              <a:t>Bài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toán</a:t>
            </a:r>
            <a:r>
              <a:rPr lang="en-US" sz="2800" dirty="0">
                <a:latin typeface="Montserrat ExtraBold" panose="00000900000000000000" pitchFamily="2" charset="0"/>
              </a:rPr>
              <a:t> Document Binarization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2B8B6E-4EFD-DA42-A018-9531288918D0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42F534A-1A6C-C3CB-D635-6EC7ACA940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68C587-EC04-37E9-C516-35BFE94D55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96F66A-0C6E-7721-16B9-B4E9427B53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5200C3-2F50-9A06-A78E-7B4CE0F1E6FF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F7C7A5-3945-F0D5-7E28-FCB6B084BF2C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7397A8-DD84-D5E4-2F58-C8A5EC8AAB3B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2A9DF0-242F-61C1-0341-6F83600AF783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7EAF7-D80D-ABEA-4AED-C086406D7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40A8C-62E7-878D-34A4-95A0D6EB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0E319A-08A2-0178-3BCF-D1EEFA3D5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877" y="1015308"/>
            <a:ext cx="8517308" cy="5358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4F4F6D-D306-1644-7DBB-ECB5C621A9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25" y="1015307"/>
            <a:ext cx="8431849" cy="50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93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BBC8B-4B80-AEEE-A9E9-5360608B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D23D4-7F73-891E-477C-0FE78315BA94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latin typeface="Montserrat ExtraBold" panose="00000900000000000000" pitchFamily="2" charset="0"/>
            </a:endParaRPr>
          </a:p>
          <a:p>
            <a:r>
              <a:rPr lang="en-US" sz="2800" dirty="0" err="1">
                <a:latin typeface="Montserrat ExtraBold" panose="00000900000000000000" pitchFamily="2" charset="0"/>
              </a:rPr>
              <a:t>Bài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toán</a:t>
            </a:r>
            <a:r>
              <a:rPr lang="en-US" sz="2800" dirty="0">
                <a:latin typeface="Montserrat ExtraBold" panose="00000900000000000000" pitchFamily="2" charset="0"/>
              </a:rPr>
              <a:t> Document Binarization</a:t>
            </a:r>
          </a:p>
          <a:p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75FE1A-5B6F-8AA9-A177-DDB90185A3DD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E42FDF3-1261-EB0A-1BA8-9E9E505648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BB4AF5-547A-260E-9D6E-6A2E960D6E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546702-A4AF-0A88-D8D7-1AA36AFFB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D8F4CA6-ED53-1D4D-59AF-81BFCB8DF5B3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7949C-17F7-0144-28D5-003C51D5F9B6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198FB0-6BCF-44E4-52A6-938CB06355F4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377CB5-C97D-7F61-5004-8C01E39A37BC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9669D-3DD9-AB93-78D1-B8D02BEF5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307F6-4DC4-1601-F1AA-8C3245EDB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A15B09-2BF1-495E-93A2-BAD3FF679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877" y="1015308"/>
            <a:ext cx="8517308" cy="5358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209426-40C5-22F4-C84E-5D8211B96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25" y="1015307"/>
            <a:ext cx="8431849" cy="5094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1EE1C3-E5CF-F637-555C-2361AB205F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7525" y="956721"/>
            <a:ext cx="7787247" cy="47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12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E636-8BE0-BD41-DF92-D2B15358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12D918-8234-D147-C824-68AE967E272A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latin typeface="Montserrat ExtraBold" panose="00000900000000000000" pitchFamily="2" charset="0"/>
            </a:endParaRPr>
          </a:p>
          <a:p>
            <a:r>
              <a:rPr lang="en-US" sz="2800" dirty="0">
                <a:latin typeface="Montserrat ExtraBold" panose="00000900000000000000" pitchFamily="2" charset="0"/>
              </a:rPr>
              <a:t>Phân </a:t>
            </a:r>
            <a:r>
              <a:rPr lang="en-US" sz="2800" dirty="0" err="1">
                <a:latin typeface="Montserrat ExtraBold" panose="00000900000000000000" pitchFamily="2" charset="0"/>
              </a:rPr>
              <a:t>tích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lỗi</a:t>
            </a:r>
            <a:endParaRPr lang="en-US" sz="2800" dirty="0">
              <a:latin typeface="Montserrat ExtraBold" panose="00000900000000000000" pitchFamily="2" charset="0"/>
            </a:endParaRPr>
          </a:p>
          <a:p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203928-C3AB-4CBF-9AEB-B2F9B1C02BBE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3DDC9BC-9D77-0453-A44E-D5F31AF8F8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F5C987-A6D7-1DB2-020D-F94698BE6A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C67C17-8836-46B5-F0CA-6E3DD145F7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1D7E2A-FE64-B72B-9B03-1C7B182D9690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54CA8-24A1-1BFA-3FC6-E78729222B68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C5F7E-E828-AF26-B8B1-89DA664FD963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260488-4655-A193-F2F4-77AC55D21B4F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370C8-0536-435E-0535-C510F769A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815" y="1437829"/>
            <a:ext cx="7400658" cy="398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99854-DCA2-7DAD-12D5-FD457D62B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066" y="872216"/>
            <a:ext cx="8195417" cy="5472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0E7622-05FF-5053-B5F0-A4DFD306F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877" y="1015308"/>
            <a:ext cx="8517308" cy="5358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04E6A7-39BB-7B25-81EC-35779B42F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25" y="1015307"/>
            <a:ext cx="8431849" cy="5094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4D9545-213A-327C-71A3-9E0B7F445A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7525" y="956721"/>
            <a:ext cx="7787247" cy="4751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DADAAC-B0D7-310C-51FE-E0EAB871A5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7525" y="986013"/>
            <a:ext cx="8109958" cy="475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83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A413-2870-50A5-DDA2-D2DDD0DD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96427-79FB-D719-A710-090F67026194}"/>
              </a:ext>
            </a:extLst>
          </p:cNvPr>
          <p:cNvSpPr/>
          <p:nvPr/>
        </p:nvSpPr>
        <p:spPr>
          <a:xfrm>
            <a:off x="0" y="0"/>
            <a:ext cx="12192000" cy="773723"/>
          </a:xfrm>
          <a:prstGeom prst="rect">
            <a:avLst/>
          </a:prstGeom>
          <a:solidFill>
            <a:srgbClr val="009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latin typeface="Montserrat ExtraBold" panose="00000900000000000000" pitchFamily="2" charset="0"/>
            </a:endParaRPr>
          </a:p>
          <a:p>
            <a:r>
              <a:rPr lang="en-US" sz="2800" dirty="0" err="1">
                <a:latin typeface="Montserrat ExtraBold" panose="00000900000000000000" pitchFamily="2" charset="0"/>
              </a:rPr>
              <a:t>Kết</a:t>
            </a:r>
            <a:r>
              <a:rPr lang="en-US" sz="2800" dirty="0">
                <a:latin typeface="Montserrat ExtraBold" panose="00000900000000000000" pitchFamily="2" charset="0"/>
              </a:rPr>
              <a:t> </a:t>
            </a:r>
            <a:r>
              <a:rPr lang="en-US" sz="2800" dirty="0" err="1">
                <a:latin typeface="Montserrat ExtraBold" panose="00000900000000000000" pitchFamily="2" charset="0"/>
              </a:rPr>
              <a:t>luận</a:t>
            </a:r>
            <a:endParaRPr lang="en-US" sz="2800" dirty="0">
              <a:latin typeface="Montserrat ExtraBold" panose="00000900000000000000" pitchFamily="2" charset="0"/>
            </a:endParaRPr>
          </a:p>
          <a:p>
            <a:endParaRPr lang="en-US" sz="2800" dirty="0">
              <a:latin typeface="Montserrat ExtraBold" panose="000009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9D5A62-DCFB-55A5-C15C-A306B5D3E901}"/>
              </a:ext>
            </a:extLst>
          </p:cNvPr>
          <p:cNvCxnSpPr/>
          <p:nvPr/>
        </p:nvCxnSpPr>
        <p:spPr>
          <a:xfrm>
            <a:off x="0" y="6443267"/>
            <a:ext cx="12192000" cy="0"/>
          </a:xfrm>
          <a:prstGeom prst="line">
            <a:avLst/>
          </a:prstGeom>
          <a:ln w="19050">
            <a:solidFill>
              <a:srgbClr val="FFE5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334FBC2-CDD3-5248-C5FD-52D62CE1D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" y="6384680"/>
            <a:ext cx="4013848" cy="6080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AC9034-3D6D-FB75-A92B-B39F2FD28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74" y="6443267"/>
            <a:ext cx="4013848" cy="60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9114FA-DD50-1297-2039-9C325F21E6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560" y="-46738"/>
            <a:ext cx="931923" cy="9189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A8E8418-5DD8-D4E6-8D73-B0657EEAB3A4}"/>
              </a:ext>
            </a:extLst>
          </p:cNvPr>
          <p:cNvSpPr txBox="1"/>
          <p:nvPr/>
        </p:nvSpPr>
        <p:spPr>
          <a:xfrm>
            <a:off x="2015554" y="256358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① Canny Edge 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FF2845-EE0D-1D4F-23FF-DD23FDDDE1E8}"/>
              </a:ext>
            </a:extLst>
          </p:cNvPr>
          <p:cNvSpPr txBox="1"/>
          <p:nvPr/>
        </p:nvSpPr>
        <p:spPr>
          <a:xfrm>
            <a:off x="6516998" y="2538495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② Contour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4254A7-003D-77D2-4641-9BBA69B9AA61}"/>
              </a:ext>
            </a:extLst>
          </p:cNvPr>
          <p:cNvSpPr txBox="1"/>
          <p:nvPr/>
        </p:nvSpPr>
        <p:spPr>
          <a:xfrm>
            <a:off x="1957040" y="4663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③ 4 Corner Points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7819BF-7E1B-BDE3-8D96-2ABDFB542338}"/>
              </a:ext>
            </a:extLst>
          </p:cNvPr>
          <p:cNvSpPr txBox="1"/>
          <p:nvPr/>
        </p:nvSpPr>
        <p:spPr>
          <a:xfrm>
            <a:off x="6405903" y="4778584"/>
            <a:ext cx="2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DC64"/>
                </a:solidFill>
              </a:rPr>
              <a:t>④ Warped 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2EE9E-8385-5960-1A7B-4706B434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730" y="1410056"/>
            <a:ext cx="7255379" cy="421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62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31359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CẢM ƠN MỌI NGƯỜI ĐÃ THEO DÕI</a:t>
            </a:r>
            <a:br>
              <a:rPr lang="en-US" sz="2800" b="1" dirty="0">
                <a:solidFill>
                  <a:srgbClr val="008DF4"/>
                </a:solidFill>
                <a:latin typeface="Montserrat ExtraBold" panose="00000900000000000000" pitchFamily="2" charset="0"/>
              </a:rPr>
            </a:br>
            <a:r>
              <a:rPr lang="en-US" sz="2800" b="1" dirty="0">
                <a:solidFill>
                  <a:srgbClr val="008DF4"/>
                </a:solidFill>
                <a:latin typeface="Montserrat ExtraBold" panose="00000900000000000000" pitchFamily="2" charset="0"/>
              </a:rPr>
              <a:t>HỎI &amp; ĐÁP</a:t>
            </a:r>
          </a:p>
        </p:txBody>
      </p:sp>
    </p:spTree>
    <p:extLst>
      <p:ext uri="{BB962C8B-B14F-4D97-AF65-F5344CB8AC3E}">
        <p14:creationId xmlns:p14="http://schemas.microsoft.com/office/powerpoint/2010/main" val="420855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3336</TotalTime>
  <Words>849</Words>
  <Application>Microsoft Office PowerPoint</Application>
  <PresentationFormat>Widescreen</PresentationFormat>
  <Paragraphs>110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Laptop88</dc:creator>
  <cp:lastModifiedBy>Laptop88</cp:lastModifiedBy>
  <cp:revision>103</cp:revision>
  <dcterms:created xsi:type="dcterms:W3CDTF">2025-11-10T16:54:03Z</dcterms:created>
  <dcterms:modified xsi:type="dcterms:W3CDTF">2026-05-03T16:53:43Z</dcterms:modified>
</cp:coreProperties>
</file>